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0:45. This is Train, Tune and Scale Qwen3-4B on a TPU v5e-8. Forty minutes of wall clock and about six dollars on eight v5e chips, spent answering three questions: what fits, what is worth running, and what breaks when you add more chips. The short version of all three is on this slide. What fits is tensor parallel, not data parallel, and I predicted that before running it. What is worth running is global batch 32, which is nowhere near the memory limit. And what breaks is not the chip count, it is the network fabric. Everything I show you traces to a named artifact file from one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to 1:45. This chart has throughput on the left axis and the compiler's memory estimate on the right. Throughput saturates at global batch 32: 16,562 tokens a second, using 59% of HBM. The first shape that actually fails to compile is global batch 512. That is four doublings of headroom between as fast as this gets and out of memory, and everything in between spends memory for nothing. Going from 32 to 64 buys 0.4% more throughput for 13% more memory. Why does a bigger batch stop helping? Not because the arithmetic units are saturated: we are sitting at 25.5% of peak, so they clearly are not. Something else caps it, either memory bandwidth or fixed per-step overhead, and this run did not isolate which. That is a gap I will name rather than paper 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to 2:45. Fine-tuning worked, and the evidence for it is thinner than the headline suggests. Two hundred steps of SFT moved banking77 exact match from 70% to 92.5% on forty held-out prompts, format compliance held at 100%, and GSM8K retention went up rather than down, 81.25 to 87.5. That is the result I would ship. Here is the problem. Those bars are Wilson intervals, which are the honest range of true accuracy you can claim from a small sample, and they overlap by 1.8 points. On top of that, GRPO's accuracy effect came out plus 12.5 points here and minus 12.5 on an identically configured run three days earlier, with the guardrail flipping from pass to fail. That is a two-example swing on a sixteen-item set. I would need 97 examples for a plus or minus ten point margin. I used forty.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to 3:45. This is the result I would actually defend. Going from 8 to 16 chips inside one ICI slice is free: per chip throughput goes from 2,025 tokens a second to 2,026, so the second eight chips cost nothing. Take those same sixteen chips, split them across two slices so the gradient all-reduce has to cross DCN instead of ICI, same model, same batches, same layout, and it drops to 1,320 and then 1,085. And look at the last two bars, because that ordering should be impossible. An all-reduce averages gradients, which is one value per parameter, so its payload is fixed by the model and does not grow when you double the batch. Weak scaling should not be worse than strong. Exposed communication went from 1.08 seconds to 3.51 for the same payload. Lost overlap, rematerialization at 110% of the memory limit, and contention from other students are all consistent, the GKE jobs saved no traces, and I genuinely cannot tell you which it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 to 5:00. What I would ship, and what survives this hardware. I would ship the SFT checkpoint at step 202, not GRPO, because GRPO's gain did not reproduce. Now the part that outlives the assignment. This chart takes the 16 bytes per parameter I measured and applies it forward. Kimi K3, at 2.8 trillion parameters, needs 44.8 terabytes of training state, which is eleven times the HBM of an entire 256-chip v5e pod. An Ironwood pod clears it with room. That gap is why 2.8-trillion-parameter open models arrived in 2026 and not 2023. The fabric result ages best. On Ironwood the boundary moves from 256 chips to 9,216, but it does not disappear, and mixture-of-experts models add a second collective, a per-layer all-to-all. Google's new inference part drops the 3D torus for a topology that cuts network diameter from 16 hops to 7 for a claimed 50% better all-to-all latency, and names MoE serving as the reason, so they reached the same conclusion I did. One caveat on my own numbers: the 99% matmul figure is a claim about sequence length 256 only. Attention scales as L squared against matmul's L, so at a million tokens the same step is 97% attention, which is why Kimi K3 and Qwen3.5 replaced most of their attention layers. And a prediction to close on. Google says these chips were built to train and serve world models like Genie 3, so millions of agents can rehearse in simulation. If that is where the compute goes, the systems question of 2027 is not tokens per second on a training step, it is the throughput and latency of a simulate, act, learn loop, and the fabric question I measured reappears between the model and its environment. Thanks.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40080"/>
            <a:ext cx="11155680" cy="1645920"/>
          </a:xfrm>
          <a:prstGeom prst="rect">
            <a:avLst/>
          </a:prstGeom>
          <a:noFill/>
        </p:spPr>
        <p:txBody>
          <a:bodyPr wrap="square">
            <a:spAutoFit/>
          </a:bodyPr>
          <a:lstStyle/>
          <a:p>
            <a:pPr>
              <a:spcBef>
                <a:spcPts val="0"/>
              </a:spcBef>
              <a:spcAft>
                <a:spcPts val="300"/>
              </a:spcAft>
            </a:pPr>
            <a:r>
              <a:rPr sz="1100" b="0">
                <a:solidFill>
                  <a:srgbClr val="6E6E73"/>
                </a:solidFill>
                <a:latin typeface="Helvetica Neue"/>
              </a:rPr>
              <a:t>STANFORD ME344 . FINAL PROJECT . ANH NGUYEN</a:t>
            </a:r>
          </a:p>
          <a:p>
            <a:pPr>
              <a:spcBef>
                <a:spcPts val="0"/>
              </a:spcBef>
              <a:spcAft>
                <a:spcPts val="300"/>
              </a:spcAft>
            </a:pPr>
            <a:r>
              <a:rPr sz="3800" b="1">
                <a:solidFill>
                  <a:srgbClr val="1D1D1F"/>
                </a:solidFill>
                <a:latin typeface="Helvetica Neue"/>
              </a:rPr>
              <a:t>Train, Tune, And Scale Qwen3-4B</a:t>
            </a:r>
          </a:p>
          <a:p>
            <a:pPr>
              <a:spcBef>
                <a:spcPts val="0"/>
              </a:spcBef>
              <a:spcAft>
                <a:spcPts val="300"/>
              </a:spcAft>
            </a:pPr>
            <a:r>
              <a:rPr sz="3800" b="1">
                <a:solidFill>
                  <a:srgbClr val="1D1D1F"/>
                </a:solidFill>
                <a:latin typeface="Helvetica Neue"/>
              </a:rPr>
              <a:t>on a TPU v5e-8</a:t>
            </a:r>
          </a:p>
          <a:p>
            <a:pPr>
              <a:spcBef>
                <a:spcPts val="1000"/>
              </a:spcBef>
              <a:spcAft>
                <a:spcPts val="300"/>
              </a:spcAft>
            </a:pPr>
            <a:r>
              <a:rPr sz="1500" b="0">
                <a:solidFill>
                  <a:srgbClr val="6E6E73"/>
                </a:solidFill>
                <a:latin typeface="Helvetica Neue"/>
              </a:rPr>
              <a:t>Forty minutes and $6 on eight v5e chips, answering three questions.</a:t>
            </a:r>
          </a:p>
        </p:txBody>
      </p:sp>
      <p:sp>
        <p:nvSpPr>
          <p:cNvPr id="3" name="TextBox 2"/>
          <p:cNvSpPr txBox="1"/>
          <p:nvPr/>
        </p:nvSpPr>
        <p:spPr>
          <a:xfrm>
            <a:off x="502920" y="3200400"/>
            <a:ext cx="3520440" cy="2651760"/>
          </a:xfrm>
          <a:prstGeom prst="rect">
            <a:avLst/>
          </a:prstGeom>
          <a:noFill/>
        </p:spPr>
        <p:txBody>
          <a:bodyPr wrap="square">
            <a:spAutoFit/>
          </a:bodyPr>
          <a:lstStyle/>
          <a:p>
            <a:pPr>
              <a:spcBef>
                <a:spcPts val="0"/>
              </a:spcBef>
              <a:spcAft>
                <a:spcPts val="300"/>
              </a:spcAft>
            </a:pPr>
            <a:r>
              <a:rPr sz="1000" b="1">
                <a:solidFill>
                  <a:srgbClr val="6E6E73"/>
                </a:solidFill>
                <a:latin typeface="Helvetica Neue"/>
              </a:rPr>
              <a:t>WHAT FITS</a:t>
            </a:r>
          </a:p>
          <a:p>
            <a:pPr>
              <a:spcBef>
                <a:spcPts val="400"/>
              </a:spcBef>
              <a:spcAft>
                <a:spcPts val="300"/>
              </a:spcAft>
            </a:pPr>
            <a:r>
              <a:rPr sz="2300" b="1">
                <a:solidFill>
                  <a:srgbClr val="0071E3"/>
                </a:solidFill>
                <a:latin typeface="Helvetica Neue"/>
              </a:rPr>
              <a:t>TP8, not DP8</a:t>
            </a:r>
          </a:p>
          <a:p>
            <a:pPr>
              <a:spcBef>
                <a:spcPts val="600"/>
              </a:spcBef>
              <a:spcAft>
                <a:spcPts val="300"/>
              </a:spcAft>
            </a:pPr>
            <a:r>
              <a:rPr sz="1100" b="0">
                <a:solidFill>
                  <a:srgbClr val="6E6E73"/>
                </a:solidFill>
                <a:latin typeface="Helvetica Neue"/>
              </a:rPr>
              <a:t>Tensor parallel shards the 16 bytes per parameter of training state eight ways and fits in 8.23 GiB per chip. Data parallel replicates it, needs 59.94, and dies at 65.47 against 15.75 available. Both predicted before running.</a:t>
            </a:r>
          </a:p>
        </p:txBody>
      </p:sp>
      <p:sp>
        <p:nvSpPr>
          <p:cNvPr id="4" name="TextBox 3"/>
          <p:cNvSpPr txBox="1"/>
          <p:nvPr/>
        </p:nvSpPr>
        <p:spPr>
          <a:xfrm>
            <a:off x="4297680" y="3200400"/>
            <a:ext cx="3520440" cy="2651760"/>
          </a:xfrm>
          <a:prstGeom prst="rect">
            <a:avLst/>
          </a:prstGeom>
          <a:noFill/>
        </p:spPr>
        <p:txBody>
          <a:bodyPr wrap="square">
            <a:spAutoFit/>
          </a:bodyPr>
          <a:lstStyle/>
          <a:p>
            <a:pPr>
              <a:spcBef>
                <a:spcPts val="0"/>
              </a:spcBef>
              <a:spcAft>
                <a:spcPts val="300"/>
              </a:spcAft>
            </a:pPr>
            <a:r>
              <a:rPr sz="1000" b="1">
                <a:solidFill>
                  <a:srgbClr val="6E6E73"/>
                </a:solidFill>
                <a:latin typeface="Helvetica Neue"/>
              </a:rPr>
              <a:t>WHAT IS WORTH RUNNING</a:t>
            </a:r>
          </a:p>
          <a:p>
            <a:pPr>
              <a:spcBef>
                <a:spcPts val="400"/>
              </a:spcBef>
              <a:spcAft>
                <a:spcPts val="300"/>
              </a:spcAft>
            </a:pPr>
            <a:r>
              <a:rPr sz="2300" b="1">
                <a:solidFill>
                  <a:srgbClr val="1A8F3C"/>
                </a:solidFill>
                <a:latin typeface="Helvetica Neue"/>
              </a:rPr>
              <a:t>global batch 32</a:t>
            </a:r>
          </a:p>
          <a:p>
            <a:pPr>
              <a:spcBef>
                <a:spcPts val="600"/>
              </a:spcBef>
              <a:spcAft>
                <a:spcPts val="300"/>
              </a:spcAft>
            </a:pPr>
            <a:r>
              <a:rPr sz="1100" b="0">
                <a:solidFill>
                  <a:srgbClr val="6E6E73"/>
                </a:solidFill>
                <a:latin typeface="Helvetica Neue"/>
              </a:rPr>
              <a:t>Throughput saturates at 16,562 tokens/s using 59.4% of HBM. The memory wall is four doublings later at gb512. Everything in between spends memory for nothing.</a:t>
            </a:r>
          </a:p>
        </p:txBody>
      </p:sp>
      <p:sp>
        <p:nvSpPr>
          <p:cNvPr id="5" name="TextBox 4"/>
          <p:cNvSpPr txBox="1"/>
          <p:nvPr/>
        </p:nvSpPr>
        <p:spPr>
          <a:xfrm>
            <a:off x="8092440" y="3200400"/>
            <a:ext cx="3520440" cy="2651760"/>
          </a:xfrm>
          <a:prstGeom prst="rect">
            <a:avLst/>
          </a:prstGeom>
          <a:noFill/>
        </p:spPr>
        <p:txBody>
          <a:bodyPr wrap="square">
            <a:spAutoFit/>
          </a:bodyPr>
          <a:lstStyle/>
          <a:p>
            <a:pPr>
              <a:spcBef>
                <a:spcPts val="0"/>
              </a:spcBef>
              <a:spcAft>
                <a:spcPts val="300"/>
              </a:spcAft>
            </a:pPr>
            <a:r>
              <a:rPr sz="1000" b="1">
                <a:solidFill>
                  <a:srgbClr val="6E6E73"/>
                </a:solidFill>
                <a:latin typeface="Helvetica Neue"/>
              </a:rPr>
              <a:t>WHAT BREAKS</a:t>
            </a:r>
          </a:p>
          <a:p>
            <a:pPr>
              <a:spcBef>
                <a:spcPts val="400"/>
              </a:spcBef>
              <a:spcAft>
                <a:spcPts val="300"/>
              </a:spcAft>
            </a:pPr>
            <a:r>
              <a:rPr sz="2300" b="1">
                <a:solidFill>
                  <a:srgbClr val="D72C20"/>
                </a:solidFill>
                <a:latin typeface="Helvetica Neue"/>
              </a:rPr>
              <a:t>the fabric</a:t>
            </a:r>
          </a:p>
          <a:p>
            <a:pPr>
              <a:spcBef>
                <a:spcPts val="600"/>
              </a:spcBef>
              <a:spcAft>
                <a:spcPts val="300"/>
              </a:spcAft>
            </a:pPr>
            <a:r>
              <a:rPr sz="1100" b="0">
                <a:solidFill>
                  <a:srgbClr val="6E6E73"/>
                </a:solidFill>
                <a:latin typeface="Helvetica Neue"/>
              </a:rPr>
              <a:t>16 chips in one ICI slice: 100% efficiency. The same 16 across two slices, so the gradient all-reduce crosses DCN: 65% strong, 54% weak.</a:t>
            </a:r>
          </a:p>
        </p:txBody>
      </p:sp>
      <p:sp>
        <p:nvSpPr>
          <p:cNvPr id="6" name="TextBox 5"/>
          <p:cNvSpPr txBox="1"/>
          <p:nvPr/>
        </p:nvSpPr>
        <p:spPr>
          <a:xfrm>
            <a:off x="502920" y="6327648"/>
            <a:ext cx="11155680" cy="365760"/>
          </a:xfrm>
          <a:prstGeom prst="rect">
            <a:avLst/>
          </a:prstGeom>
          <a:noFill/>
        </p:spPr>
        <p:txBody>
          <a:bodyPr wrap="square">
            <a:spAutoFit/>
          </a:bodyPr>
          <a:lstStyle/>
          <a:p>
            <a:pPr>
              <a:spcBef>
                <a:spcPts val="0"/>
              </a:spcBef>
              <a:spcAft>
                <a:spcPts val="300"/>
              </a:spcAft>
            </a:pPr>
            <a:r>
              <a:rPr sz="900" b="0">
                <a:solidFill>
                  <a:srgbClr val="6E6E73"/>
                </a:solidFill>
                <a:latin typeface="Helvetica Neue"/>
              </a:rPr>
              <a:t>run qanh-20260813t194806z . MaxText 17c7172 . every number traces to a named artifact file . areporeporepo.github.io/me344-run/final/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55680" cy="914400"/>
          </a:xfrm>
          <a:prstGeom prst="rect">
            <a:avLst/>
          </a:prstGeom>
          <a:noFill/>
        </p:spPr>
        <p:txBody>
          <a:bodyPr wrap="square">
            <a:spAutoFit/>
          </a:bodyPr>
          <a:lstStyle/>
          <a:p>
            <a:pPr>
              <a:spcBef>
                <a:spcPts val="0"/>
              </a:spcBef>
              <a:spcAft>
                <a:spcPts val="300"/>
              </a:spcAft>
            </a:pPr>
            <a:r>
              <a:rPr sz="1050" b="0">
                <a:solidFill>
                  <a:srgbClr val="6E6E73"/>
                </a:solidFill>
                <a:latin typeface="Helvetica Neue"/>
              </a:rPr>
              <a:t>1 OF 4 . MEMORY</a:t>
            </a:r>
          </a:p>
          <a:p>
            <a:pPr>
              <a:spcBef>
                <a:spcPts val="0"/>
              </a:spcBef>
              <a:spcAft>
                <a:spcPts val="300"/>
              </a:spcAft>
            </a:pPr>
            <a:r>
              <a:rPr sz="2500" b="1">
                <a:solidFill>
                  <a:srgbClr val="1D1D1F"/>
                </a:solidFill>
                <a:latin typeface="Helvetica Neue"/>
              </a:rPr>
              <a:t>The useful batch and the memory wall are not the same shape</a:t>
            </a:r>
          </a:p>
        </p:txBody>
      </p:sp>
      <p:pic>
        <p:nvPicPr>
          <p:cNvPr id="3" name="Picture 2" descr="slide_throughput.png"/>
          <p:cNvPicPr>
            <a:picLocks noChangeAspect="1"/>
          </p:cNvPicPr>
          <p:nvPr/>
        </p:nvPicPr>
        <p:blipFill>
          <a:blip r:embed="rId2"/>
          <a:stretch>
            <a:fillRect/>
          </a:stretch>
        </p:blipFill>
        <p:spPr>
          <a:xfrm>
            <a:off x="457200" y="1481328"/>
            <a:ext cx="7635240" cy="3437922"/>
          </a:xfrm>
          <a:prstGeom prst="rect">
            <a:avLst/>
          </a:prstGeom>
        </p:spPr>
      </p:pic>
      <p:sp>
        <p:nvSpPr>
          <p:cNvPr id="4" name="TextBox 3"/>
          <p:cNvSpPr txBox="1"/>
          <p:nvPr/>
        </p:nvSpPr>
        <p:spPr>
          <a:xfrm>
            <a:off x="8366760" y="1481328"/>
            <a:ext cx="3429000" cy="4709160"/>
          </a:xfrm>
          <a:prstGeom prst="rect">
            <a:avLst/>
          </a:prstGeom>
          <a:noFill/>
        </p:spPr>
        <p:txBody>
          <a:bodyPr wrap="square">
            <a:spAutoFit/>
          </a:bodyPr>
          <a:lstStyle/>
          <a:p>
            <a:pPr>
              <a:spcBef>
                <a:spcPts val="0"/>
              </a:spcBef>
              <a:spcAft>
                <a:spcPts val="300"/>
              </a:spcAft>
            </a:pPr>
            <a:r>
              <a:rPr sz="1150" b="1">
                <a:solidFill>
                  <a:srgbClr val="1A8F3C"/>
                </a:solidFill>
                <a:latin typeface="Helvetica Neue"/>
              </a:rPr>
              <a:t>The knee: gb32</a:t>
            </a:r>
          </a:p>
          <a:p>
            <a:pPr>
              <a:spcBef>
                <a:spcPts val="200"/>
              </a:spcBef>
              <a:spcAft>
                <a:spcPts val="300"/>
              </a:spcAft>
            </a:pPr>
            <a:r>
              <a:rPr sz="1100" b="0">
                <a:solidFill>
                  <a:srgbClr val="6E6E73"/>
                </a:solidFill>
                <a:latin typeface="Helvetica Neue"/>
              </a:rPr>
              <a:t>16,562 tokens/s at 59.4% of HBM. gb64 buys 0.4% more throughput for 13% more memory.</a:t>
            </a:r>
          </a:p>
          <a:p>
            <a:pPr>
              <a:spcBef>
                <a:spcPts val="1300"/>
              </a:spcBef>
              <a:spcAft>
                <a:spcPts val="300"/>
              </a:spcAft>
            </a:pPr>
            <a:r>
              <a:rPr sz="1150" b="1">
                <a:solidFill>
                  <a:srgbClr val="D72C20"/>
                </a:solidFill>
                <a:latin typeface="Helvetica Neue"/>
              </a:rPr>
              <a:t>The wall: gb512</a:t>
            </a:r>
          </a:p>
          <a:p>
            <a:pPr>
              <a:spcBef>
                <a:spcPts val="200"/>
              </a:spcBef>
              <a:spcAft>
                <a:spcPts val="300"/>
              </a:spcAft>
            </a:pPr>
            <a:r>
              <a:rPr sz="1100" b="0">
                <a:solidFill>
                  <a:srgbClr val="6E6E73"/>
                </a:solidFill>
                <a:latin typeface="Helvetica Neue"/>
              </a:rPr>
              <a:t>Fails to compile. 18.43 GiB of temporaries against 15.75 available.</a:t>
            </a:r>
          </a:p>
          <a:p>
            <a:pPr>
              <a:spcBef>
                <a:spcPts val="1300"/>
              </a:spcBef>
              <a:spcAft>
                <a:spcPts val="300"/>
              </a:spcAft>
            </a:pPr>
            <a:r>
              <a:rPr sz="1150" b="1">
                <a:solidFill>
                  <a:srgbClr val="1D1D1F"/>
                </a:solidFill>
                <a:latin typeface="Helvetica Neue"/>
              </a:rPr>
              <a:t>The ceiling: 25.5%</a:t>
            </a:r>
          </a:p>
          <a:p>
            <a:pPr>
              <a:spcBef>
                <a:spcPts val="200"/>
              </a:spcBef>
              <a:spcAft>
                <a:spcPts val="300"/>
              </a:spcAft>
            </a:pPr>
            <a:r>
              <a:rPr sz="1100" b="0">
                <a:solidFill>
                  <a:srgbClr val="6E6E73"/>
                </a:solidFill>
                <a:latin typeface="Helvetica Neue"/>
              </a:rPr>
              <a:t>Of the 197 BF16 TFLOP/s peak, and it plateaus there across an 8x range of batch sizes.</a:t>
            </a:r>
          </a:p>
          <a:p>
            <a:pPr>
              <a:spcBef>
                <a:spcPts val="1300"/>
              </a:spcBef>
              <a:spcAft>
                <a:spcPts val="300"/>
              </a:spcAft>
            </a:pPr>
            <a:r>
              <a:rPr sz="1150" b="1">
                <a:solidFill>
                  <a:srgbClr val="B8770A"/>
                </a:solidFill>
                <a:latin typeface="Helvetica Neue"/>
              </a:rPr>
              <a:t>What I did not isolate</a:t>
            </a:r>
          </a:p>
          <a:p>
            <a:pPr>
              <a:spcBef>
                <a:spcPts val="200"/>
              </a:spcBef>
              <a:spcAft>
                <a:spcPts val="300"/>
              </a:spcAft>
            </a:pPr>
            <a:r>
              <a:rPr sz="1100" b="0">
                <a:solidFill>
                  <a:srgbClr val="6E6E73"/>
                </a:solidFill>
                <a:latin typeface="Helvetica Neue"/>
              </a:rPr>
              <a:t>At 25.5% of peak the arithmetic units are clearly not the limit. Memory bandwidth and fixed per-step overhead are both candidates. This run did not separate them.</a:t>
            </a:r>
          </a:p>
        </p:txBody>
      </p:sp>
      <p:sp>
        <p:nvSpPr>
          <p:cNvPr id="5" name="TextBox 4"/>
          <p:cNvSpPr txBox="1"/>
          <p:nvPr/>
        </p:nvSpPr>
        <p:spPr>
          <a:xfrm>
            <a:off x="502920" y="6327648"/>
            <a:ext cx="11155680" cy="365760"/>
          </a:xfrm>
          <a:prstGeom prst="rect">
            <a:avLst/>
          </a:prstGeom>
          <a:noFill/>
        </p:spPr>
        <p:txBody>
          <a:bodyPr wrap="square">
            <a:spAutoFit/>
          </a:bodyPr>
          <a:lstStyle/>
          <a:p>
            <a:pPr>
              <a:spcBef>
                <a:spcPts val="0"/>
              </a:spcBef>
              <a:spcAft>
                <a:spcPts val="300"/>
              </a:spcAft>
            </a:pPr>
            <a:r>
              <a:rPr sz="900" b="0">
                <a:solidFill>
                  <a:srgbClr val="6E6E73"/>
                </a:solidFill>
                <a:latin typeface="Helvetica Neue"/>
              </a:rPr>
              <a:t>sweep_results.csv . capacity_report.json . 8 batch sizes, AOT compiled then benchmarked at 8 steps 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55680" cy="914400"/>
          </a:xfrm>
          <a:prstGeom prst="rect">
            <a:avLst/>
          </a:prstGeom>
          <a:noFill/>
        </p:spPr>
        <p:txBody>
          <a:bodyPr wrap="square">
            <a:spAutoFit/>
          </a:bodyPr>
          <a:lstStyle/>
          <a:p>
            <a:pPr>
              <a:spcBef>
                <a:spcPts val="0"/>
              </a:spcBef>
              <a:spcAft>
                <a:spcPts val="300"/>
              </a:spcAft>
            </a:pPr>
            <a:r>
              <a:rPr sz="1050" b="0">
                <a:solidFill>
                  <a:srgbClr val="6E6E73"/>
                </a:solidFill>
                <a:latin typeface="Helvetica Neue"/>
              </a:rPr>
              <a:t>2 OF 4 . THE MODEL</a:t>
            </a:r>
          </a:p>
          <a:p>
            <a:pPr>
              <a:spcBef>
                <a:spcPts val="0"/>
              </a:spcBef>
              <a:spcAft>
                <a:spcPts val="300"/>
              </a:spcAft>
            </a:pPr>
            <a:r>
              <a:rPr sz="2500" b="1">
                <a:solidFill>
                  <a:srgbClr val="1D1D1F"/>
                </a:solidFill>
                <a:latin typeface="Helvetica Neue"/>
              </a:rPr>
              <a:t>Fine-tuning worked. Forty examples cannot prove it.</a:t>
            </a:r>
          </a:p>
        </p:txBody>
      </p:sp>
      <p:pic>
        <p:nvPicPr>
          <p:cNvPr id="3" name="Picture 2" descr="slide_evaluation.png"/>
          <p:cNvPicPr>
            <a:picLocks noChangeAspect="1"/>
          </p:cNvPicPr>
          <p:nvPr/>
        </p:nvPicPr>
        <p:blipFill>
          <a:blip r:embed="rId2"/>
          <a:stretch>
            <a:fillRect/>
          </a:stretch>
        </p:blipFill>
        <p:spPr>
          <a:xfrm>
            <a:off x="457200" y="1481328"/>
            <a:ext cx="7635240" cy="3081965"/>
          </a:xfrm>
          <a:prstGeom prst="rect">
            <a:avLst/>
          </a:prstGeom>
        </p:spPr>
      </p:pic>
      <p:sp>
        <p:nvSpPr>
          <p:cNvPr id="4" name="TextBox 3"/>
          <p:cNvSpPr txBox="1"/>
          <p:nvPr/>
        </p:nvSpPr>
        <p:spPr>
          <a:xfrm>
            <a:off x="8366760" y="1481328"/>
            <a:ext cx="3429000" cy="4709160"/>
          </a:xfrm>
          <a:prstGeom prst="rect">
            <a:avLst/>
          </a:prstGeom>
          <a:noFill/>
        </p:spPr>
        <p:txBody>
          <a:bodyPr wrap="square">
            <a:spAutoFit/>
          </a:bodyPr>
          <a:lstStyle/>
          <a:p>
            <a:pPr>
              <a:spcBef>
                <a:spcPts val="0"/>
              </a:spcBef>
              <a:spcAft>
                <a:spcPts val="300"/>
              </a:spcAft>
            </a:pPr>
            <a:r>
              <a:rPr sz="1150" b="1">
                <a:solidFill>
                  <a:srgbClr val="0071E3"/>
                </a:solidFill>
                <a:latin typeface="Helvetica Neue"/>
              </a:rPr>
              <a:t>SFT: 70.0% to 92.5%</a:t>
            </a:r>
          </a:p>
          <a:p>
            <a:pPr>
              <a:spcBef>
                <a:spcPts val="200"/>
              </a:spcBef>
              <a:spcAft>
                <a:spcPts val="300"/>
              </a:spcAft>
            </a:pPr>
            <a:r>
              <a:rPr sz="1100" b="0">
                <a:solidFill>
                  <a:srgbClr val="6E6E73"/>
                </a:solidFill>
                <a:latin typeface="Helvetica Neue"/>
              </a:rPr>
              <a:t>On 40 held-out banking77 prompts, format compliance holding at 100%, GSM8K retention rising 81.25% to 87.5%.</a:t>
            </a:r>
          </a:p>
          <a:p>
            <a:pPr>
              <a:spcBef>
                <a:spcPts val="1300"/>
              </a:spcBef>
              <a:spcAft>
                <a:spcPts val="300"/>
              </a:spcAft>
            </a:pPr>
            <a:r>
              <a:rPr sz="1150" b="1">
                <a:solidFill>
                  <a:srgbClr val="B8770A"/>
                </a:solidFill>
                <a:latin typeface="Helvetica Neue"/>
              </a:rPr>
              <a:t>But the intervals overlap</a:t>
            </a:r>
          </a:p>
          <a:p>
            <a:pPr>
              <a:spcBef>
                <a:spcPts val="200"/>
              </a:spcBef>
              <a:spcAft>
                <a:spcPts val="300"/>
              </a:spcAft>
            </a:pPr>
            <a:r>
              <a:rPr sz="1100" b="0">
                <a:solidFill>
                  <a:srgbClr val="6E6E73"/>
                </a:solidFill>
                <a:latin typeface="Helvetica Neue"/>
              </a:rPr>
              <a:t>95% Wilson: base 54.6 to 81.9, SFT 80.1 to 97.4. They overlap by 1.8 points, so the delta is not formally established.</a:t>
            </a:r>
          </a:p>
          <a:p>
            <a:pPr>
              <a:spcBef>
                <a:spcPts val="1300"/>
              </a:spcBef>
              <a:spcAft>
                <a:spcPts val="300"/>
              </a:spcAft>
            </a:pPr>
            <a:r>
              <a:rPr sz="1150" b="1">
                <a:solidFill>
                  <a:srgbClr val="D72C20"/>
                </a:solidFill>
                <a:latin typeface="Helvetica Neue"/>
              </a:rPr>
              <a:t>And GRPO did not reproduce</a:t>
            </a:r>
          </a:p>
          <a:p>
            <a:pPr>
              <a:spcBef>
                <a:spcPts val="200"/>
              </a:spcBef>
              <a:spcAft>
                <a:spcPts val="300"/>
              </a:spcAft>
            </a:pPr>
            <a:r>
              <a:rPr sz="1100" b="0">
                <a:solidFill>
                  <a:srgbClr val="6E6E73"/>
                </a:solidFill>
                <a:latin typeface="Helvetica Neue"/>
              </a:rPr>
              <a:t>Plus 12.5 points here, minus 12.5 on an identically configured run three days earlier, with the guardrail flipping pass to fail. Two examples out of sixteen.</a:t>
            </a:r>
          </a:p>
          <a:p>
            <a:pPr>
              <a:spcBef>
                <a:spcPts val="1300"/>
              </a:spcBef>
              <a:spcAft>
                <a:spcPts val="300"/>
              </a:spcAft>
            </a:pPr>
            <a:r>
              <a:rPr sz="1150" b="1">
                <a:solidFill>
                  <a:srgbClr val="1D1D1F"/>
                </a:solidFill>
                <a:latin typeface="Helvetica Neue"/>
              </a:rPr>
              <a:t>So: a smoke test</a:t>
            </a:r>
          </a:p>
          <a:p>
            <a:pPr>
              <a:spcBef>
                <a:spcPts val="200"/>
              </a:spcBef>
              <a:spcAft>
                <a:spcPts val="300"/>
              </a:spcAft>
            </a:pPr>
            <a:r>
              <a:rPr sz="1100" b="0">
                <a:solidFill>
                  <a:srgbClr val="6E6E73"/>
                </a:solidFill>
                <a:latin typeface="Helvetica Neue"/>
              </a:rPr>
              <a:t>97 examples would be needed for a plus-or-minus 10 point margin. I used 40.</a:t>
            </a:r>
          </a:p>
        </p:txBody>
      </p:sp>
      <p:sp>
        <p:nvSpPr>
          <p:cNvPr id="5" name="TextBox 4"/>
          <p:cNvSpPr txBox="1"/>
          <p:nvPr/>
        </p:nvSpPr>
        <p:spPr>
          <a:xfrm>
            <a:off x="502920" y="6327648"/>
            <a:ext cx="11155680" cy="365760"/>
          </a:xfrm>
          <a:prstGeom prst="rect">
            <a:avLst/>
          </a:prstGeom>
          <a:noFill/>
        </p:spPr>
        <p:txBody>
          <a:bodyPr wrap="square">
            <a:spAutoFit/>
          </a:bodyPr>
          <a:lstStyle/>
          <a:p>
            <a:pPr>
              <a:spcBef>
                <a:spcPts val="0"/>
              </a:spcBef>
              <a:spcAft>
                <a:spcPts val="300"/>
              </a:spcAft>
            </a:pPr>
            <a:r>
              <a:rPr sz="900" b="0">
                <a:solidFill>
                  <a:srgbClr val="6E6E73"/>
                </a:solidFill>
                <a:latin typeface="Helvetica Neue"/>
              </a:rPr>
              <a:t>evaluation_results.csv . evaluation_uncertainty.json . Wilson score interval, 95%, n=40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55680" cy="914400"/>
          </a:xfrm>
          <a:prstGeom prst="rect">
            <a:avLst/>
          </a:prstGeom>
          <a:noFill/>
        </p:spPr>
        <p:txBody>
          <a:bodyPr wrap="square">
            <a:spAutoFit/>
          </a:bodyPr>
          <a:lstStyle/>
          <a:p>
            <a:pPr>
              <a:spcBef>
                <a:spcPts val="0"/>
              </a:spcBef>
              <a:spcAft>
                <a:spcPts val="300"/>
              </a:spcAft>
            </a:pPr>
            <a:r>
              <a:rPr sz="1050" b="0">
                <a:solidFill>
                  <a:srgbClr val="6E6E73"/>
                </a:solidFill>
                <a:latin typeface="Helvetica Neue"/>
              </a:rPr>
              <a:t>3 OF 4 . SCALING</a:t>
            </a:r>
          </a:p>
          <a:p>
            <a:pPr>
              <a:spcBef>
                <a:spcPts val="0"/>
              </a:spcBef>
              <a:spcAft>
                <a:spcPts val="300"/>
              </a:spcAft>
            </a:pPr>
            <a:r>
              <a:rPr sz="2500" b="1">
                <a:solidFill>
                  <a:srgbClr val="1D1D1F"/>
                </a:solidFill>
                <a:latin typeface="Helvetica Neue"/>
              </a:rPr>
              <a:t>Chip count is not the scaling unit. The fabric is.</a:t>
            </a:r>
          </a:p>
        </p:txBody>
      </p:sp>
      <p:pic>
        <p:nvPicPr>
          <p:cNvPr id="3" name="Picture 2" descr="slide_scaling.png"/>
          <p:cNvPicPr>
            <a:picLocks noChangeAspect="1"/>
          </p:cNvPicPr>
          <p:nvPr/>
        </p:nvPicPr>
        <p:blipFill>
          <a:blip r:embed="rId2"/>
          <a:stretch>
            <a:fillRect/>
          </a:stretch>
        </p:blipFill>
        <p:spPr>
          <a:xfrm>
            <a:off x="457200" y="1481328"/>
            <a:ext cx="7635240" cy="3495899"/>
          </a:xfrm>
          <a:prstGeom prst="rect">
            <a:avLst/>
          </a:prstGeom>
        </p:spPr>
      </p:pic>
      <p:sp>
        <p:nvSpPr>
          <p:cNvPr id="4" name="TextBox 3"/>
          <p:cNvSpPr txBox="1"/>
          <p:nvPr/>
        </p:nvSpPr>
        <p:spPr>
          <a:xfrm>
            <a:off x="8366760" y="1481328"/>
            <a:ext cx="3429000" cy="4709160"/>
          </a:xfrm>
          <a:prstGeom prst="rect">
            <a:avLst/>
          </a:prstGeom>
          <a:noFill/>
        </p:spPr>
        <p:txBody>
          <a:bodyPr wrap="square">
            <a:spAutoFit/>
          </a:bodyPr>
          <a:lstStyle/>
          <a:p>
            <a:pPr>
              <a:spcBef>
                <a:spcPts val="0"/>
              </a:spcBef>
              <a:spcAft>
                <a:spcPts val="300"/>
              </a:spcAft>
            </a:pPr>
            <a:r>
              <a:rPr sz="1150" b="1">
                <a:solidFill>
                  <a:srgbClr val="1A8F3C"/>
                </a:solidFill>
                <a:latin typeface="Helvetica Neue"/>
              </a:rPr>
              <a:t>Inside one ICI slice: free</a:t>
            </a:r>
          </a:p>
          <a:p>
            <a:pPr>
              <a:spcBef>
                <a:spcPts val="200"/>
              </a:spcBef>
              <a:spcAft>
                <a:spcPts val="300"/>
              </a:spcAft>
            </a:pPr>
            <a:r>
              <a:rPr sz="1100" b="0">
                <a:solidFill>
                  <a:srgbClr val="6E6E73"/>
                </a:solidFill>
                <a:latin typeface="Helvetica Neue"/>
              </a:rPr>
              <a:t>8 to 16 chips holds 100.1% strong and 99.6% weak efficiency. Per chip throughput goes 2,025 to 2,026.</a:t>
            </a:r>
          </a:p>
          <a:p>
            <a:pPr>
              <a:spcBef>
                <a:spcPts val="1300"/>
              </a:spcBef>
              <a:spcAft>
                <a:spcPts val="300"/>
              </a:spcAft>
            </a:pPr>
            <a:r>
              <a:rPr sz="1150" b="1">
                <a:solidFill>
                  <a:srgbClr val="D72C20"/>
                </a:solidFill>
                <a:latin typeface="Helvetica Neue"/>
              </a:rPr>
              <a:t>Across DCN: 35% gone</a:t>
            </a:r>
          </a:p>
          <a:p>
            <a:pPr>
              <a:spcBef>
                <a:spcPts val="200"/>
              </a:spcBef>
              <a:spcAft>
                <a:spcPts val="300"/>
              </a:spcAft>
            </a:pPr>
            <a:r>
              <a:rPr sz="1100" b="0">
                <a:solidFill>
                  <a:srgbClr val="6E6E73"/>
                </a:solidFill>
                <a:latin typeface="Helvetica Neue"/>
              </a:rPr>
              <a:t>Same model, same batches, same logical layout. Only the fabric the gradient all-reduce travels over changed.</a:t>
            </a:r>
          </a:p>
          <a:p>
            <a:pPr>
              <a:spcBef>
                <a:spcPts val="1300"/>
              </a:spcBef>
              <a:spcAft>
                <a:spcPts val="300"/>
              </a:spcAft>
            </a:pPr>
            <a:r>
              <a:rPr sz="1150" b="1">
                <a:solidFill>
                  <a:srgbClr val="B8770A"/>
                </a:solidFill>
                <a:latin typeface="Helvetica Neue"/>
              </a:rPr>
              <a:t>One result I cannot explain</a:t>
            </a:r>
          </a:p>
          <a:p>
            <a:pPr>
              <a:spcBef>
                <a:spcPts val="200"/>
              </a:spcBef>
              <a:spcAft>
                <a:spcPts val="300"/>
              </a:spcAft>
            </a:pPr>
            <a:r>
              <a:rPr sz="1100" b="0">
                <a:solidFill>
                  <a:srgbClr val="6E6E73"/>
                </a:solidFill>
                <a:latin typeface="Helvetica Neue"/>
              </a:rPr>
              <a:t>DCN weak is worse per chip than DCN strong, 1,085 against 1,320. An all-reduce payload is fixed by parameter count, so doubling the batch should not hurt.</a:t>
            </a:r>
          </a:p>
          <a:p>
            <a:pPr>
              <a:spcBef>
                <a:spcPts val="1300"/>
              </a:spcBef>
              <a:spcAft>
                <a:spcPts val="300"/>
              </a:spcAft>
            </a:pPr>
            <a:r>
              <a:rPr sz="1150" b="1">
                <a:solidFill>
                  <a:srgbClr val="1D1D1F"/>
                </a:solidFill>
                <a:latin typeface="Helvetica Neue"/>
              </a:rPr>
              <a:t>Three candidates, no evidence</a:t>
            </a:r>
          </a:p>
          <a:p>
            <a:pPr>
              <a:spcBef>
                <a:spcPts val="200"/>
              </a:spcBef>
              <a:spcAft>
                <a:spcPts val="300"/>
              </a:spcAft>
            </a:pPr>
            <a:r>
              <a:rPr sz="1100" b="0">
                <a:solidFill>
                  <a:srgbClr val="6E6E73"/>
                </a:solidFill>
                <a:latin typeface="Helvetica Neue"/>
              </a:rPr>
              <a:t>Lost compute/communication overlap, rematerialization at 110% of the AOT limit, or shared-fabric contention. The GKE jobs saved no traces.</a:t>
            </a:r>
          </a:p>
        </p:txBody>
      </p:sp>
      <p:sp>
        <p:nvSpPr>
          <p:cNvPr id="5" name="TextBox 4"/>
          <p:cNvSpPr txBox="1"/>
          <p:nvPr/>
        </p:nvSpPr>
        <p:spPr>
          <a:xfrm>
            <a:off x="502920" y="6327648"/>
            <a:ext cx="11155680" cy="365760"/>
          </a:xfrm>
          <a:prstGeom prst="rect">
            <a:avLst/>
          </a:prstGeom>
          <a:noFill/>
        </p:spPr>
        <p:txBody>
          <a:bodyPr wrap="square">
            <a:spAutoFit/>
          </a:bodyPr>
          <a:lstStyle/>
          <a:p>
            <a:pPr>
              <a:spcBef>
                <a:spcPts val="0"/>
              </a:spcBef>
              <a:spcAft>
                <a:spcPts val="300"/>
              </a:spcAft>
            </a:pPr>
            <a:r>
              <a:rPr sz="900" b="0">
                <a:solidFill>
                  <a:srgbClr val="6E6E73"/>
                </a:solidFill>
                <a:latin typeface="Helvetica Neue"/>
              </a:rPr>
              <a:t>scale_out.json . 5 trials . the GKE results are dated 2026-08-10 and reused, each records a source_checkpoint from that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55680" cy="914400"/>
          </a:xfrm>
          <a:prstGeom prst="rect">
            <a:avLst/>
          </a:prstGeom>
          <a:noFill/>
        </p:spPr>
        <p:txBody>
          <a:bodyPr wrap="square">
            <a:spAutoFit/>
          </a:bodyPr>
          <a:lstStyle/>
          <a:p>
            <a:pPr>
              <a:spcBef>
                <a:spcPts val="0"/>
              </a:spcBef>
              <a:spcAft>
                <a:spcPts val="300"/>
              </a:spcAft>
            </a:pPr>
            <a:r>
              <a:rPr sz="1050" b="0">
                <a:solidFill>
                  <a:srgbClr val="6E6E73"/>
                </a:solidFill>
                <a:latin typeface="Helvetica Neue"/>
              </a:rPr>
              <a:t>4 OF 4 . OUTLOOK</a:t>
            </a:r>
          </a:p>
          <a:p>
            <a:pPr>
              <a:spcBef>
                <a:spcPts val="0"/>
              </a:spcBef>
              <a:spcAft>
                <a:spcPts val="300"/>
              </a:spcAft>
            </a:pPr>
            <a:r>
              <a:rPr sz="2500" b="1">
                <a:solidFill>
                  <a:srgbClr val="1D1D1F"/>
                </a:solidFill>
                <a:latin typeface="Helvetica Neue"/>
              </a:rPr>
              <a:t>What I would ship, and what this pod says about 2027</a:t>
            </a:r>
          </a:p>
        </p:txBody>
      </p:sp>
      <p:pic>
        <p:nvPicPr>
          <p:cNvPr id="3" name="Picture 2" descr="capacity_forward.png"/>
          <p:cNvPicPr>
            <a:picLocks noChangeAspect="1"/>
          </p:cNvPicPr>
          <p:nvPr/>
        </p:nvPicPr>
        <p:blipFill>
          <a:blip r:embed="rId2"/>
          <a:stretch>
            <a:fillRect/>
          </a:stretch>
        </p:blipFill>
        <p:spPr>
          <a:xfrm>
            <a:off x="457200" y="1481328"/>
            <a:ext cx="7635240" cy="3622948"/>
          </a:xfrm>
          <a:prstGeom prst="rect">
            <a:avLst/>
          </a:prstGeom>
        </p:spPr>
      </p:pic>
      <p:sp>
        <p:nvSpPr>
          <p:cNvPr id="4" name="TextBox 3"/>
          <p:cNvSpPr txBox="1"/>
          <p:nvPr/>
        </p:nvSpPr>
        <p:spPr>
          <a:xfrm>
            <a:off x="8366760" y="1481328"/>
            <a:ext cx="3429000" cy="4709160"/>
          </a:xfrm>
          <a:prstGeom prst="rect">
            <a:avLst/>
          </a:prstGeom>
          <a:noFill/>
        </p:spPr>
        <p:txBody>
          <a:bodyPr wrap="square">
            <a:spAutoFit/>
          </a:bodyPr>
          <a:lstStyle/>
          <a:p>
            <a:pPr>
              <a:spcBef>
                <a:spcPts val="0"/>
              </a:spcBef>
              <a:spcAft>
                <a:spcPts val="300"/>
              </a:spcAft>
            </a:pPr>
            <a:r>
              <a:rPr sz="1000" b="1">
                <a:solidFill>
                  <a:srgbClr val="0071E3"/>
                </a:solidFill>
                <a:latin typeface="Helvetica Neue"/>
              </a:rPr>
              <a:t>Ship SFT step 202</a:t>
            </a:r>
          </a:p>
          <a:p>
            <a:pPr>
              <a:spcBef>
                <a:spcPts val="200"/>
              </a:spcBef>
              <a:spcAft>
                <a:spcPts val="300"/>
              </a:spcAft>
            </a:pPr>
            <a:r>
              <a:rPr sz="950" b="0">
                <a:solidFill>
                  <a:srgbClr val="6E6E73"/>
                </a:solidFill>
                <a:latin typeface="Helvetica Neue"/>
              </a:rPr>
              <a:t>The only candidate with a domain gain, no retention regression, and a serving measurement behind it. Not GRPO: its gain did not reproduce.</a:t>
            </a:r>
          </a:p>
          <a:p>
            <a:pPr>
              <a:spcBef>
                <a:spcPts val="900"/>
              </a:spcBef>
              <a:spcAft>
                <a:spcPts val="300"/>
              </a:spcAft>
            </a:pPr>
            <a:r>
              <a:rPr sz="1000" b="1">
                <a:solidFill>
                  <a:srgbClr val="1D1D1F"/>
                </a:solidFill>
                <a:latin typeface="Helvetica Neue"/>
              </a:rPr>
              <a:t>The arithmetic outlives the number</a:t>
            </a:r>
          </a:p>
          <a:p>
            <a:pPr>
              <a:spcBef>
                <a:spcPts val="200"/>
              </a:spcBef>
              <a:spcAft>
                <a:spcPts val="300"/>
              </a:spcAft>
            </a:pPr>
            <a:r>
              <a:rPr sz="950" b="0">
                <a:solidFill>
                  <a:srgbClr val="6E6E73"/>
                </a:solidFill>
                <a:latin typeface="Helvetica Neue"/>
              </a:rPr>
              <a:t>16 bytes per parameter is what says which models a fleet can train. Kimi K3 needs 11x an entire v5e pod. That is why 2.8T open models arrived in 2026.</a:t>
            </a:r>
          </a:p>
          <a:p>
            <a:pPr>
              <a:spcBef>
                <a:spcPts val="900"/>
              </a:spcBef>
              <a:spcAft>
                <a:spcPts val="300"/>
              </a:spcAft>
            </a:pPr>
            <a:r>
              <a:rPr sz="1000" b="1">
                <a:solidFill>
                  <a:srgbClr val="1A8F3C"/>
                </a:solidFill>
                <a:latin typeface="Helvetica Neue"/>
              </a:rPr>
              <a:t>The fabric result ages best</a:t>
            </a:r>
          </a:p>
          <a:p>
            <a:pPr>
              <a:spcBef>
                <a:spcPts val="200"/>
              </a:spcBef>
              <a:spcAft>
                <a:spcPts val="300"/>
              </a:spcAft>
            </a:pPr>
            <a:r>
              <a:rPr sz="950" b="0">
                <a:solidFill>
                  <a:srgbClr val="6E6E73"/>
                </a:solidFill>
                <a:latin typeface="Helvetica Neue"/>
              </a:rPr>
              <a:t>On Ironwood the boundary moves from 256 chips to 9,216 but does not vanish. TPU 8i drops the 3D torus for a topology cutting 16 hops to 7, claiming 50% better all-to-all, and names MoE serving as the reason.</a:t>
            </a:r>
          </a:p>
          <a:p>
            <a:pPr>
              <a:spcBef>
                <a:spcPts val="900"/>
              </a:spcBef>
              <a:spcAft>
                <a:spcPts val="300"/>
              </a:spcAft>
            </a:pPr>
            <a:r>
              <a:rPr sz="1000" b="1">
                <a:solidFill>
                  <a:srgbClr val="B8770A"/>
                </a:solidFill>
                <a:latin typeface="Helvetica Neue"/>
              </a:rPr>
              <a:t>99% matmul is about L=256</a:t>
            </a:r>
          </a:p>
          <a:p>
            <a:pPr>
              <a:spcBef>
                <a:spcPts val="200"/>
              </a:spcBef>
              <a:spcAft>
                <a:spcPts val="300"/>
              </a:spcAft>
            </a:pPr>
            <a:r>
              <a:rPr sz="950" b="0">
                <a:solidFill>
                  <a:srgbClr val="6E6E73"/>
                </a:solidFill>
                <a:latin typeface="Helvetica Neue"/>
              </a:rPr>
              <a:t>Attention scales as L squared against matmul's L, so at 1M context the same step is 97% attention. That is why Kimi K3 and Qwen3.5 replaced most of their attention.</a:t>
            </a:r>
          </a:p>
          <a:p>
            <a:pPr>
              <a:spcBef>
                <a:spcPts val="900"/>
              </a:spcBef>
              <a:spcAft>
                <a:spcPts val="300"/>
              </a:spcAft>
            </a:pPr>
            <a:r>
              <a:rPr sz="1000" b="1">
                <a:solidFill>
                  <a:srgbClr val="6E6E73"/>
                </a:solidFill>
                <a:latin typeface="Helvetica Neue"/>
              </a:rPr>
              <a:t>Prediction, not measurement</a:t>
            </a:r>
          </a:p>
          <a:p>
            <a:pPr>
              <a:spcBef>
                <a:spcPts val="200"/>
              </a:spcBef>
              <a:spcAft>
                <a:spcPts val="300"/>
              </a:spcAft>
            </a:pPr>
            <a:r>
              <a:rPr sz="950" b="0">
                <a:solidFill>
                  <a:srgbClr val="6E6E73"/>
                </a:solidFill>
                <a:latin typeface="Helvetica Neue"/>
              </a:rPr>
              <a:t>Google says 8t and 8i were built for world models like Genie 3. If so, 2027's systems question is a simulate-act-learn loop, not tokens/s on a training step.</a:t>
            </a:r>
          </a:p>
        </p:txBody>
      </p:sp>
      <p:sp>
        <p:nvSpPr>
          <p:cNvPr id="5" name="TextBox 4"/>
          <p:cNvSpPr txBox="1"/>
          <p:nvPr/>
        </p:nvSpPr>
        <p:spPr>
          <a:xfrm>
            <a:off x="502920" y="6327648"/>
            <a:ext cx="11155680" cy="365760"/>
          </a:xfrm>
          <a:prstGeom prst="rect">
            <a:avLst/>
          </a:prstGeom>
          <a:noFill/>
        </p:spPr>
        <p:txBody>
          <a:bodyPr wrap="square">
            <a:spAutoFit/>
          </a:bodyPr>
          <a:lstStyle/>
          <a:p>
            <a:pPr>
              <a:spcBef>
                <a:spcPts val="0"/>
              </a:spcBef>
              <a:spcAft>
                <a:spcPts val="300"/>
              </a:spcAft>
            </a:pPr>
            <a:r>
              <a:rPr sz="900" b="0">
                <a:solidFill>
                  <a:srgbClr val="6E6E73"/>
                </a:solidFill>
                <a:latin typeface="Helvetica Neue"/>
              </a:rPr>
              <a:t>16 bytes/parameter measured on this run . chip capacities from Google Cloud docs and the TPU 8t/8i deep dive, 2026-04-22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